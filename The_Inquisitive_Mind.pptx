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48840"/>
            <a:ext cx="109728" cy="2377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PSYCHOLOGY &amp; BEHAVIORAL SCIENCE OF CURIOSITY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Inquisitive Mind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60120" y="38862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questions arise, what kinds emerge, and how people pursue answers — for the modern, busy, and creative human.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review · grounded in cited research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640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inquiry, six stages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73152" cy="1828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0756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or prediction error switches on a question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187452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874520"/>
            <a:ext cx="73152" cy="1828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7568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48056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tags it worth resolving; reward loop fires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63840" y="187452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0" y="1874520"/>
            <a:ext cx="73152" cy="18288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4"/>
          <p:cNvSpPr/>
          <p:nvPr/>
        </p:nvSpPr>
        <p:spPr>
          <a:xfrm>
            <a:off x="809244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207568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244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09244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takes a recognizable form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023360"/>
            <a:ext cx="73152" cy="18288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41879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22452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4864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Foraging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6868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explore in a characteristic but shifting style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251960" y="402336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51960" y="4023360"/>
            <a:ext cx="73152" cy="182880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30" name="Text 24"/>
          <p:cNvSpPr/>
          <p:nvPr/>
        </p:nvSpPr>
        <p:spPr>
          <a:xfrm>
            <a:off x="4480560" y="41879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224528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80560" y="4864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48056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minds offload the search to the internet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863840" y="4023360"/>
            <a:ext cx="338328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863840" y="4023360"/>
            <a:ext cx="73152" cy="182880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36" name="Text 29"/>
          <p:cNvSpPr/>
          <p:nvPr/>
        </p:nvSpPr>
        <p:spPr>
          <a:xfrm>
            <a:off x="8092440" y="41879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4224528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092440" y="4864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turn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09244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leap across fields to make new ideas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THE TRIGGER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accounts of how a question switches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160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257800" cy="7315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information gap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Loewenstein, 1994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fires when you notice a gap between what you know and what you want to know.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 twist: curiosity peaks when you already know a fair amount — not when you know nothing.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recognition triggers a cognitive state that motivates information-seeking to close the gap.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4160520"/>
          </a:xfrm>
          <a:prstGeom prst="rect">
            <a:avLst/>
          </a:prstGeom>
          <a:solidFill>
            <a:srgbClr val="1A1D2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74520"/>
            <a:ext cx="525780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94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prediction error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29400" y="2624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Gruber &amp; Ranganath · PACE framework, 2019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06324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violates your expectation. The brain appraises the mismatch as signalling information that could be valuable.</a:t>
            </a:r>
            <a:endParaRPr lang="en-US" sz="14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is the result — and it recruits the dopamine reward system plus the hippocampus.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most curious when uncertainty violates what they expected.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THE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kinds of questions arise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vs. epistemic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Berlyne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curiosity is relieved by sensing something (you turn to look). Epistemic curiosity is relieved only by acquiring knowledge — the hunger for ideas and explanations. Almost all modern research sits on the epistemic branch.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257800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574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vs. diversive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55548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Berlyne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254203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= targeted exploration to learn one thing (“I need to know X”). Diversive = exploration to relieve boredom or seek stimulation (“show me something”).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vs. interest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69080" y="4233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Five-dimensional construct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69087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Deprivation: an uncomfortable “I can’t rest until this gap closes.” Interest: a pleasurable “I wonder where this leads.” Two emotional flavors of the same act.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5257800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062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555480" y="4233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Fitzgibbon &amp; Murayama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69087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“what might have been” question after a decision. Documented in adults, children, and even monkeys; tied to causal reasoning and emotion regulation.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HOW PEOPLE FORAGE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architectural styles of curiosity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Zurn, Bassett &amp; Lydon-Staley modeled browsing as a knowledge network: pages are nodes, similarity between them are edges. The shape of the web reveals the style.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0440" cy="3520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35204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13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Hunter</a:t>
            </a:r>
            <a:endParaRPr lang="en-US" sz="1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3500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Tight, deep network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specific answers in a projectile path. High clustering, thick edges, short paths — everything close and related.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5093208"/>
            <a:ext cx="2971800" cy="0"/>
          </a:xfrm>
          <a:prstGeom prst="line">
            <a:avLst/>
          </a:prstGeom>
          <a:noFill/>
          <a:ln w="12700">
            <a:solidFill>
              <a:srgbClr val="D8DC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ON  </a:t>
            </a:r>
            <a:pPr indent="0" marL="0">
              <a:buNone/>
            </a:pPr>
            <a:r>
              <a:rPr lang="en-US" sz="12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mastery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520440" cy="3520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07408" y="2240280"/>
            <a:ext cx="3520440" cy="548640"/>
          </a:xfrm>
          <a:prstGeom prst="rect">
            <a:avLst/>
          </a:prstGeom>
          <a:solidFill>
            <a:srgbClr val="7B6CA6"/>
          </a:solidFill>
          <a:ln/>
        </p:spPr>
      </p:sp>
      <p:sp>
        <p:nvSpPr>
          <p:cNvPr id="15" name="Text 12"/>
          <p:cNvSpPr/>
          <p:nvPr/>
        </p:nvSpPr>
        <p:spPr>
          <a:xfrm>
            <a:off x="4681728" y="2313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Busybody</a:t>
            </a:r>
            <a:endParaRPr lang="en-US" sz="1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16" y="23500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81728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6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Loose, broad network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81728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 for loose threads of novelty. Nodes far apart, thin edges, long paths — scattered, weakly related topics.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81728" y="5093208"/>
            <a:ext cx="2971800" cy="0"/>
          </a:xfrm>
          <a:prstGeom prst="line">
            <a:avLst/>
          </a:prstGeom>
          <a:noFill/>
          <a:ln w="12700">
            <a:solidFill>
              <a:srgbClr val="D8DC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81728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ON  </a:t>
            </a:r>
            <a:pPr indent="0" marL="0">
              <a:buNone/>
            </a:pPr>
            <a:r>
              <a:rPr lang="en-US" sz="1200" b="1" spc="100" kern="0" dirty="0">
                <a:solidFill>
                  <a:srgbClr val="7B6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map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74736" y="2240280"/>
            <a:ext cx="3520440" cy="3520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74736" y="2240280"/>
            <a:ext cx="3520440" cy="54864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23" name="Text 19"/>
          <p:cNvSpPr/>
          <p:nvPr/>
        </p:nvSpPr>
        <p:spPr>
          <a:xfrm>
            <a:off x="8449056" y="23134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Dancer</a:t>
            </a:r>
            <a:endParaRPr lang="en-US" sz="1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944" y="235000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49056" y="29535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Loopy, bridging network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449056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Leaps in creative breaks with tradition across siloed fields. Doesn’t just collect information — transforms it.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449056" y="5093208"/>
            <a:ext cx="2971800" cy="0"/>
          </a:xfrm>
          <a:prstGeom prst="line">
            <a:avLst/>
          </a:prstGeom>
          <a:noFill/>
          <a:ln w="12700">
            <a:solidFill>
              <a:srgbClr val="D8DCE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49056" y="5184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ON  </a:t>
            </a:r>
            <a:pPr indent="0" marL="0">
              <a:buNone/>
            </a:pPr>
            <a:r>
              <a:rPr lang="en-US" sz="1200" b="1" spc="1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idea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· THE LINE OF QUESTIONING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style asks its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57200"/>
          </a:xfrm>
          <a:prstGeom prst="rect">
            <a:avLst/>
          </a:prstGeom>
          <a:solidFill>
            <a:srgbClr val="1A1D2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of questions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10881360" cy="12801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31720"/>
            <a:ext cx="73152" cy="1280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317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— deeper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331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goal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4231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X?” → “What causes X?” → “What’s the mechanism?” Each step drills into the last answer. Off-goal questions get pruned.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10881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73152" cy="1280160"/>
          </a:xfrm>
          <a:prstGeom prst="rect">
            <a:avLst/>
          </a:prstGeom>
          <a:solidFill>
            <a:srgbClr val="7B6CA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C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Busybody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361188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Sideways — adjacent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3611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In-the-moment novelty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X?” → “X reminds me of Y…” → “Y came from Z…” Each answer spawns a tangent, and the tangent wins.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0881360" cy="1280160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892040"/>
            <a:ext cx="73152" cy="128016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892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Dancer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68880" y="48920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— distant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48920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sought-after connection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9834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happen if I applied the logic of A to B?” Reaching across a gap to force two distant domains into contact.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fixed identities: the same person hunts under a deadline, busybodies when relaxed, dances when creating. Style shifts with mood, goal, prior knowledge, and context.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seed question, three journeys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 </a:t>
            </a:r>
            <a:pPr indent="0" marL="0">
              <a:buNone/>
            </a:pPr>
            <a:r>
              <a:rPr lang="en-US" sz="1600" b="1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reinforcement learning?”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93192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352044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exactly is a reward signal?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How does a policy choose actions?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Explore vs. exploit?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math: Bellman, Q-learning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Why does it converge?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5074920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tunnel inward. Lands on mastery of RL.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07408" y="2011680"/>
            <a:ext cx="3520440" cy="393192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2011680"/>
            <a:ext cx="3520440" cy="457200"/>
          </a:xfrm>
          <a:prstGeom prst="rect">
            <a:avLst/>
          </a:prstGeom>
          <a:solidFill>
            <a:srgbClr val="7B6CA6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BUSYBODY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6517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from rewards — like a dog?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How do you train a dog? Skinner.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Who was Skinner?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Other famous experiments?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Wasn’t there a movie…?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1728" y="5074920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B6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spreading tangle. Lands far from RL — a broad map.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74736" y="2011680"/>
            <a:ext cx="3520440" cy="393192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4736" y="2011680"/>
            <a:ext cx="3520440" cy="45720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2011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DANCER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49056" y="26517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“Maximize reward over time” —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jazz player picks notes.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Could a solo be an RL policy?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Does “groove” = a high-value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in policy space?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49056" y="5074920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into a far field and back. Lands on a new idea.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all three got the same opening answer. The style lives in the very first move you make after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· THE MODERN, BUSY HUMAN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Outsourcing the 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160520"/>
          </a:xfrm>
          <a:prstGeom prst="rect">
            <a:avLst/>
          </a:prstGeom>
          <a:solidFill>
            <a:srgbClr val="1A1D2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Google effect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4592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Sparrow, Liu &amp; Wegner, 2011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expect future access to information, we recall the information itself less — and recall where to find it more.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becomes external, transactive memory. We shift from remembering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remembering </a:t>
            </a:r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3949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1874520"/>
            <a:ext cx="73152" cy="128016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on mobile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46520" y="24048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is more pronounced browsing on a phone than on a computer — the busy person’s default device.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3291840"/>
            <a:ext cx="53949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291840"/>
            <a:ext cx="73152" cy="128016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15" name="Text 12"/>
          <p:cNvSpPr/>
          <p:nvPr/>
        </p:nvSpPr>
        <p:spPr>
          <a:xfrm>
            <a:off x="6446520" y="3456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by knowledge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46520" y="38221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 larger existing knowledge base are less susceptible to the downsides of offloading.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26480" y="4709160"/>
            <a:ext cx="53949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4709160"/>
            <a:ext cx="73152" cy="1280160"/>
          </a:xfrm>
          <a:prstGeom prst="rect">
            <a:avLst/>
          </a:prstGeom>
          <a:solidFill>
            <a:srgbClr val="E07856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4873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Google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523951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seconds forming your own guess first engages epistemic curiosity, improves retention, and drives more follow-up exploration.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 · PEOPLE IN CREATIVE FIELDS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Inquiry as a creative instrument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intuitive link — and the caveat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“Curiosity feeds creativity” feels obvious — but the rigorous evidence is thinner than assumed, and rests largely on self-report.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up behaviorally (preregistered, N = 179): people who generated more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questions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produced more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ideas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divergent-thinking task.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anchor: Openness consistently links to creativity, and its sub-dimensions map onto curiosity.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754880" cy="416052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1874520"/>
            <a:ext cx="4754880" cy="73152"/>
          </a:xfrm>
          <a:prstGeom prst="rect">
            <a:avLst/>
          </a:prstGeom>
          <a:solidFill>
            <a:srgbClr val="E0785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240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0" y="2834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Dancer is the creative mode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132320" y="34747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Dancers intentionally break with tradition, forging radically discontinuous paths across siloed fields — philosophy into astronomy, music into architecture.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collect information like stamps in a book. They transform it. The value is in the synthesis, not the retrieval.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research itself admits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10881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1A1D2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8745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 bias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80560" y="18745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curiosity–creativity link rests heavily on self-report; behavioral confirmation is recent and partial.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10881360" cy="74980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926080"/>
            <a:ext cx="384048" cy="384048"/>
          </a:xfrm>
          <a:prstGeom prst="ellipse">
            <a:avLst/>
          </a:prstGeom>
          <a:solidFill>
            <a:srgbClr val="1A1D2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7432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contested metaphor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80560" y="274320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“Internet as transactive memory” is disputed — some argue no true transaction occurs; it’s just a tool.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611880"/>
            <a:ext cx="10881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3794760"/>
            <a:ext cx="384048" cy="384048"/>
          </a:xfrm>
          <a:prstGeom prst="ellipse">
            <a:avLst/>
          </a:prstGeom>
          <a:solidFill>
            <a:srgbClr val="1A1D21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3040" y="36118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not proof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80560" y="361188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cross-country curiosity-style correlations include explicitly hypothesized, not proven, causal claims.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480560"/>
            <a:ext cx="10881360" cy="749808"/>
          </a:xfrm>
          <a:prstGeom prst="rect">
            <a:avLst/>
          </a:prstGeom>
          <a:solidFill>
            <a:srgbClr val="F4F5F7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663440"/>
            <a:ext cx="384048" cy="384048"/>
          </a:xfrm>
          <a:prstGeom prst="ellipse">
            <a:avLst/>
          </a:prstGeom>
          <a:solidFill>
            <a:srgbClr val="1A1D21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463040" y="4480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WEIRD samples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480560" y="448056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curiosity research draws on Western, Educated, Industrialized, Rich, Democratic populations.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881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5532120"/>
            <a:ext cx="384048" cy="384048"/>
          </a:xfrm>
          <a:prstGeom prst="ellipse">
            <a:avLst/>
          </a:prstGeom>
          <a:solidFill>
            <a:srgbClr val="1A1D21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463040" y="53492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over state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480560" y="53492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has mostly been studied as a stable trait, not a fluctuating state; behavioral measures remain scarce.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91440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Curiosity works by connecting, not collecting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5074920" cy="160020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350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57400" y="23500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begins as a felt gap or a prediction error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057400" y="30815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gap feels sharpest when you already know a fair amount.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5074920" cy="160020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3500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98080" y="235000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come in types and journeys come in styles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0" y="30815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(deep), busybody (broad), dancer (across) — and we move between them.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4023360"/>
            <a:ext cx="5074920" cy="160020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57400" y="4224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mind offloads the answer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057400" y="4956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where it lives; a beat of reflection first changes everything.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4023360"/>
            <a:ext cx="5074920" cy="1600200"/>
          </a:xfrm>
          <a:prstGeom prst="rect">
            <a:avLst/>
          </a:prstGeom>
          <a:solidFill>
            <a:srgbClr val="2327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224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98080" y="42245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inquiry prizes the question over the answer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498080" y="4956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lives in the leap and the synthesis, not the retrieval.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6172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Loewenstein 1994 · Berlyne · Gruber &amp; Ranganath 2014/2019 · Lydon-Staley et al. 2021 · Zhou et al. 2024 · Sparrow, Liu &amp; Wegner 2011 · Fitzgibbon &amp; Murayama 2022 · curiosity–creativity studies 2022–2026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Inquisitive Mind</dc:title>
  <dc:subject>PptxGenJS Presentation</dc:subject>
  <dc:creator>Research summary</dc:creator>
  <cp:lastModifiedBy>Research summary</cp:lastModifiedBy>
  <cp:revision>1</cp:revision>
  <dcterms:created xsi:type="dcterms:W3CDTF">2026-06-08T18:09:32Z</dcterms:created>
  <dcterms:modified xsi:type="dcterms:W3CDTF">2026-06-08T18:09:32Z</dcterms:modified>
</cp:coreProperties>
</file>